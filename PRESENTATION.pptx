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256" r:id="rId2"/>
    <p:sldId id="714" r:id="rId3"/>
    <p:sldId id="674" r:id="rId4"/>
    <p:sldId id="713" r:id="rId5"/>
    <p:sldId id="712" r:id="rId6"/>
    <p:sldId id="676" r:id="rId7"/>
    <p:sldId id="711" r:id="rId8"/>
    <p:sldId id="715" r:id="rId9"/>
    <p:sldId id="716" r:id="rId10"/>
    <p:sldId id="717" r:id="rId11"/>
    <p:sldId id="718" r:id="rId12"/>
    <p:sldId id="719" r:id="rId13"/>
    <p:sldId id="720" r:id="rId14"/>
    <p:sldId id="721" r:id="rId15"/>
    <p:sldId id="722" r:id="rId16"/>
    <p:sldId id="723" r:id="rId17"/>
    <p:sldId id="724" r:id="rId18"/>
    <p:sldId id="3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7" d="100"/>
          <a:sy n="67" d="100"/>
        </p:scale>
        <p:origin x="762" y="6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13-07-2026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16806131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reepngimg.com/png/14606-presentation-free-download-png"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publicdomainpictures.net/en/view-image.php?image=547482&amp;picture=goal-plan-action" TargetMode="External"/><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                            </a:t>
            </a:r>
            <a:r>
              <a:rPr lang="en-US" sz="4000" b="1" dirty="0">
                <a:solidFill>
                  <a:schemeClr val="bg1">
                    <a:lumMod val="95000"/>
                  </a:schemeClr>
                </a:solidFill>
                <a:latin typeface="Bahnschrift SemiLight SemiConde" panose="020B0502040204020203" pitchFamily="34" charset="0"/>
              </a:rPr>
              <a:t>EMPLOYEE RETENTION PREDICTION    </a:t>
            </a:r>
            <a:endParaRPr lang="en-US" sz="4400" b="1" dirty="0">
              <a:solidFill>
                <a:schemeClr val="bg1">
                  <a:lumMod val="95000"/>
                </a:schemeClr>
              </a:solidFill>
              <a:latin typeface="Bahnschrift SemiLight SemiConde" panose="020B0502040204020203" pitchFamily="34" charset="0"/>
            </a:endParaRPr>
          </a:p>
        </p:txBody>
      </p:sp>
      <p:pic>
        <p:nvPicPr>
          <p:cNvPr id="12" name="Picture 11">
            <a:extLst>
              <a:ext uri="{FF2B5EF4-FFF2-40B4-BE49-F238E27FC236}">
                <a16:creationId xmlns:a16="http://schemas.microsoft.com/office/drawing/2014/main" id="{47DBBDF7-A222-A351-FF49-DAC5C55E1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3900488" cy="6686551"/>
          </a:xfrm>
          <a:prstGeom prst="rect">
            <a:avLst/>
          </a:prstGeom>
        </p:spPr>
      </p:pic>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831284" y="784859"/>
            <a:ext cx="10834234" cy="612775"/>
          </a:xfrm>
          <a:solidFill>
            <a:schemeClr val="tx1">
              <a:lumMod val="50000"/>
              <a:lumOff val="50000"/>
            </a:schemeClr>
          </a:solidFill>
        </p:spPr>
        <p:txBody>
          <a:bodyPr/>
          <a:lstStyle/>
          <a:p>
            <a:r>
              <a:rPr lang="en-US" dirty="0">
                <a:solidFill>
                  <a:schemeClr val="bg2">
                    <a:lumMod val="10000"/>
                  </a:schemeClr>
                </a:solidFill>
              </a:rPr>
              <a:t>AGENDA:</a:t>
            </a:r>
            <a:endParaRPr lang="en-IN" dirty="0">
              <a:solidFill>
                <a:schemeClr val="bg2">
                  <a:lumMod val="10000"/>
                </a:schemeClr>
              </a:solidFill>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sz="3200" dirty="0">
                <a:latin typeface="Times New Roman" panose="02020603050405020304" pitchFamily="18" charset="0"/>
                <a:cs typeface="Times New Roman" panose="02020603050405020304" pitchFamily="18" charset="0"/>
              </a:rPr>
              <a:t>Objective </a:t>
            </a:r>
          </a:p>
          <a:p>
            <a:r>
              <a:rPr lang="en-US" sz="3200" dirty="0">
                <a:latin typeface="Times New Roman" panose="02020603050405020304" pitchFamily="18" charset="0"/>
                <a:cs typeface="Times New Roman" panose="02020603050405020304" pitchFamily="18" charset="0"/>
              </a:rPr>
              <a:t>Data Understanding </a:t>
            </a:r>
          </a:p>
          <a:p>
            <a:r>
              <a:rPr lang="en-US" sz="3200" dirty="0">
                <a:latin typeface="Times New Roman" panose="02020603050405020304" pitchFamily="18" charset="0"/>
                <a:cs typeface="Times New Roman" panose="02020603050405020304" pitchFamily="18" charset="0"/>
              </a:rPr>
              <a:t>Data Preprocessing</a:t>
            </a:r>
          </a:p>
          <a:p>
            <a:r>
              <a:rPr lang="en-US" sz="3200" dirty="0">
                <a:latin typeface="Times New Roman" panose="02020603050405020304" pitchFamily="18" charset="0"/>
                <a:cs typeface="Times New Roman" panose="02020603050405020304" pitchFamily="18" charset="0"/>
              </a:rPr>
              <a:t>EDA(Exploratory Data Analysis)</a:t>
            </a:r>
          </a:p>
          <a:p>
            <a:r>
              <a:rPr lang="en-US" sz="3200" dirty="0">
                <a:latin typeface="Times New Roman" panose="02020603050405020304" pitchFamily="18" charset="0"/>
                <a:cs typeface="Times New Roman" panose="02020603050405020304" pitchFamily="18" charset="0"/>
              </a:rPr>
              <a:t>Model Selection</a:t>
            </a:r>
          </a:p>
          <a:p>
            <a:r>
              <a:rPr lang="en-US" sz="3200" dirty="0">
                <a:latin typeface="Times New Roman" panose="02020603050405020304" pitchFamily="18" charset="0"/>
                <a:cs typeface="Times New Roman" panose="02020603050405020304" pitchFamily="18" charset="0"/>
              </a:rPr>
              <a:t>Model Evaluation </a:t>
            </a:r>
          </a:p>
          <a:p>
            <a:r>
              <a:rPr lang="en-US" sz="3200" dirty="0">
                <a:latin typeface="Times New Roman" panose="02020603050405020304" pitchFamily="18" charset="0"/>
                <a:cs typeface="Times New Roman" panose="02020603050405020304" pitchFamily="18" charset="0"/>
              </a:rPr>
              <a:t>Conclusion &amp; Recommendations</a:t>
            </a:r>
            <a:endParaRPr lang="en-IN"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solidFill>
            <a:schemeClr val="tx1">
              <a:lumMod val="50000"/>
              <a:lumOff val="50000"/>
            </a:schemeClr>
          </a:solidFill>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1357766" y="4103950"/>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lvl="0" indent="0">
              <a:buNone/>
            </a:pPr>
            <a:r>
              <a:rPr lang="en-US" b="1" dirty="0">
                <a:latin typeface="Times New Roman" panose="02020603050405020304" pitchFamily="18" charset="0"/>
                <a:cs typeface="Times New Roman" panose="02020603050405020304" pitchFamily="18" charset="0"/>
              </a:rPr>
              <a:t> </a:t>
            </a:r>
          </a:p>
        </p:txBody>
      </p:sp>
      <p:sp>
        <p:nvSpPr>
          <p:cNvPr id="4" name="Rectangle 1">
            <a:extLst>
              <a:ext uri="{FF2B5EF4-FFF2-40B4-BE49-F238E27FC236}">
                <a16:creationId xmlns:a16="http://schemas.microsoft.com/office/drawing/2014/main" id="{F2F25BC7-BAA9-DEAF-8095-ECD127F36F84}"/>
              </a:ext>
            </a:extLst>
          </p:cNvPr>
          <p:cNvSpPr>
            <a:spLocks noChangeArrowheads="1"/>
          </p:cNvSpPr>
          <p:nvPr/>
        </p:nvSpPr>
        <p:spPr bwMode="auto">
          <a:xfrm>
            <a:off x="678885" y="1328381"/>
            <a:ext cx="6422004" cy="480131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Times New Roman" panose="02020603050405020304" pitchFamily="18" charset="0"/>
                <a:cs typeface="Times New Roman" panose="02020603050405020304" pitchFamily="18" charset="0"/>
              </a:rPr>
              <a:t>FOCUS</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 employee attrition using employee demographic, experience</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training data.</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turnover costs and improve workforce stability.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machine learning models to identify employees at risk of leaving</a:t>
            </a:r>
            <a:r>
              <a:rPr lang="en-US" altLang="en-US" sz="24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proactive HR interventions and improve employee retention.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3A23FE6-8694-5155-B9F9-EC72E41E4B8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03319" y="1651127"/>
            <a:ext cx="4286250" cy="4398066"/>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solidFill>
            <a:schemeClr val="tx1">
              <a:lumMod val="50000"/>
              <a:lumOff val="50000"/>
            </a:schemeClr>
          </a:solidFill>
        </p:spPr>
        <p:txBody>
          <a:bodyPr>
            <a:normAutofit/>
          </a:bodyPr>
          <a:lstStyle/>
          <a:p>
            <a:r>
              <a:rPr lang="en-IN" sz="3600" dirty="0">
                <a:latin typeface="Times New Roman" panose="02020603050405020304" pitchFamily="18" charset="0"/>
                <a:cs typeface="Times New Roman" panose="02020603050405020304" pitchFamily="18" charset="0"/>
              </a:rPr>
              <a:t>Objectives:</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normAutofit fontScale="92500"/>
          </a:bodyPr>
          <a:lstStyle/>
          <a:p>
            <a:pPr>
              <a:lnSpc>
                <a:spcPct val="110000"/>
              </a:lnSpc>
              <a:buFont typeface="Wingdings" panose="05000000000000000000" pitchFamily="2" charset="2"/>
              <a:buChar char="q"/>
            </a:pPr>
            <a:r>
              <a:rPr lang="en-US" dirty="0">
                <a:latin typeface="Aptos" panose="020B0004020202020204" pitchFamily="34" charset="0"/>
              </a:rPr>
              <a:t>Predict the probability of an employee seeking a job change.</a:t>
            </a:r>
          </a:p>
          <a:p>
            <a:pPr>
              <a:lnSpc>
                <a:spcPct val="110000"/>
              </a:lnSpc>
              <a:buFont typeface="Wingdings" panose="05000000000000000000" pitchFamily="2" charset="2"/>
              <a:buChar char="q"/>
            </a:pPr>
            <a:r>
              <a:rPr lang="en-US" dirty="0">
                <a:latin typeface="Aptos" panose="020B0004020202020204" pitchFamily="34" charset="0"/>
              </a:rPr>
              <a:t>Identify top factors influencing job change decisions.</a:t>
            </a:r>
          </a:p>
          <a:p>
            <a:pPr>
              <a:lnSpc>
                <a:spcPct val="110000"/>
              </a:lnSpc>
              <a:buFont typeface="Wingdings" panose="05000000000000000000" pitchFamily="2" charset="2"/>
              <a:buChar char="q"/>
            </a:pPr>
            <a:r>
              <a:rPr lang="en-US" dirty="0">
                <a:latin typeface="Aptos" panose="020B0004020202020204" pitchFamily="34" charset="0"/>
              </a:rPr>
              <a:t>Build a model with optimal accuracy and generalization.</a:t>
            </a:r>
          </a:p>
          <a:p>
            <a:pPr>
              <a:lnSpc>
                <a:spcPct val="110000"/>
              </a:lnSpc>
              <a:buFont typeface="Wingdings" panose="05000000000000000000" pitchFamily="2" charset="2"/>
              <a:buChar char="q"/>
            </a:pPr>
            <a:r>
              <a:rPr lang="en-US" dirty="0">
                <a:latin typeface="Aptos" panose="020B0004020202020204" pitchFamily="34" charset="0"/>
              </a:rPr>
              <a:t>Provide actionable insights for retention planning.</a:t>
            </a:r>
          </a:p>
          <a:p>
            <a:pPr marL="0" indent="0">
              <a:buNone/>
            </a:pPr>
            <a:endParaRPr lang="en-IN" dirty="0"/>
          </a:p>
        </p:txBody>
      </p:sp>
      <p:pic>
        <p:nvPicPr>
          <p:cNvPr id="7" name="Picture 6">
            <a:extLst>
              <a:ext uri="{FF2B5EF4-FFF2-40B4-BE49-F238E27FC236}">
                <a16:creationId xmlns:a16="http://schemas.microsoft.com/office/drawing/2014/main" id="{6D146183-2AA4-4447-2DF2-981073DA7B7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1" y="14288"/>
            <a:ext cx="6224586" cy="6843712"/>
          </a:xfrm>
          <a:prstGeom prst="rect">
            <a:avLst/>
          </a:prstGeom>
          <a:solidFill>
            <a:srgbClr val="FFFFFF">
              <a:shade val="85000"/>
            </a:srgbClr>
          </a:solidFill>
          <a:ln w="190500" cap="rnd">
            <a:no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solidFill>
            <a:schemeClr val="tx1">
              <a:lumMod val="50000"/>
              <a:lumOff val="50000"/>
            </a:schemeClr>
          </a:solidFill>
        </p:spPr>
        <p:txBody>
          <a:bodyPr/>
          <a:lstStyle/>
          <a:p>
            <a:r>
              <a:rPr lang="en-IN" dirty="0">
                <a:latin typeface="Times New Roman" panose="02020603050405020304" pitchFamily="18" charset="0"/>
                <a:cs typeface="Times New Roman" panose="02020603050405020304" pitchFamily="18" charset="0"/>
              </a:rPr>
              <a:t>Data Acquisition</a:t>
            </a:r>
          </a:p>
        </p:txBody>
      </p:sp>
      <p:sp>
        <p:nvSpPr>
          <p:cNvPr id="3" name="Content Placeholder 2">
            <a:extLst>
              <a:ext uri="{FF2B5EF4-FFF2-40B4-BE49-F238E27FC236}">
                <a16:creationId xmlns:a16="http://schemas.microsoft.com/office/drawing/2014/main" id="{0BA01EB3-22E0-1745-61B4-8ED6FE4A54B5}"/>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dirty="0"/>
              <a:t>DATASET: Employees profile with multiple features.</a:t>
            </a:r>
          </a:p>
          <a:p>
            <a:pPr>
              <a:buFont typeface="Wingdings" panose="05000000000000000000" pitchFamily="2" charset="2"/>
              <a:buChar char="q"/>
            </a:pPr>
            <a:r>
              <a:rPr lang="en-US" dirty="0"/>
              <a:t>Target variable:</a:t>
            </a:r>
          </a:p>
          <a:p>
            <a:pPr marL="0" indent="0">
              <a:buNone/>
            </a:pPr>
            <a:r>
              <a:rPr lang="en-US" dirty="0"/>
              <a:t>    0 = Employee not likely to change the job.</a:t>
            </a:r>
          </a:p>
          <a:p>
            <a:pPr marL="0" indent="0">
              <a:buNone/>
            </a:pPr>
            <a:r>
              <a:rPr lang="en-US" dirty="0"/>
              <a:t>    1 = Employee likely to change the job.</a:t>
            </a:r>
          </a:p>
          <a:p>
            <a:pPr>
              <a:buFont typeface="Wingdings" panose="05000000000000000000" pitchFamily="2" charset="2"/>
              <a:buChar char="q"/>
            </a:pPr>
            <a:r>
              <a:rPr lang="en-US" dirty="0"/>
              <a:t>Variables:  categorical variables and       Numerical variables</a:t>
            </a:r>
          </a:p>
          <a:p>
            <a:pPr>
              <a:buFont typeface="Wingdings" panose="05000000000000000000" pitchFamily="2" charset="2"/>
              <a:buChar char="q"/>
            </a:pPr>
            <a:r>
              <a:rPr lang="en-US" dirty="0"/>
              <a:t> Size : ROWS :19158</a:t>
            </a:r>
          </a:p>
          <a:p>
            <a:pPr marL="0" indent="0">
              <a:buNone/>
            </a:pPr>
            <a:r>
              <a:rPr lang="en-US" dirty="0"/>
              <a:t>               COLUMNS: 14</a:t>
            </a:r>
          </a:p>
          <a:p>
            <a:pPr marL="0" indent="0">
              <a:buNone/>
            </a:pPr>
            <a:br>
              <a:rPr lang="en-US" dirty="0"/>
            </a:br>
            <a:endParaRPr lang="en-US" dirty="0"/>
          </a:p>
        </p:txBody>
      </p:sp>
      <p:pic>
        <p:nvPicPr>
          <p:cNvPr id="7" name="Picture 6">
            <a:extLst>
              <a:ext uri="{FF2B5EF4-FFF2-40B4-BE49-F238E27FC236}">
                <a16:creationId xmlns:a16="http://schemas.microsoft.com/office/drawing/2014/main" id="{929FF978-576D-8BEC-3C0B-263C48233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666"/>
            <a:ext cx="4455269" cy="5354222"/>
          </a:xfrm>
          <a:prstGeom prst="rect">
            <a:avLst/>
          </a:prstGeom>
        </p:spPr>
      </p:pic>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A75713F-7F9E-A68D-4180-C746DB6B2B5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2901" y="200024"/>
            <a:ext cx="11849099" cy="6100763"/>
          </a:xfrm>
          <a:solidFill>
            <a:schemeClr val="tx1">
              <a:lumMod val="75000"/>
              <a:lumOff val="25000"/>
            </a:schemeClr>
          </a:solidFill>
        </p:spPr>
      </p:pic>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a:xfrm>
            <a:off x="679450" y="185739"/>
            <a:ext cx="10833100" cy="943458"/>
          </a:xfrm>
          <a:solidFill>
            <a:schemeClr val="tx1">
              <a:lumMod val="50000"/>
              <a:lumOff val="50000"/>
            </a:schemeClr>
          </a:solidFill>
        </p:spPr>
        <p:txBody>
          <a:bodyPr>
            <a:normAutofit fontScale="90000"/>
          </a:bodyPr>
          <a:lstStyle/>
          <a:p>
            <a:br>
              <a:rPr lang="en-IN" dirty="0"/>
            </a:br>
            <a:br>
              <a:rPr lang="en-IN" dirty="0"/>
            </a:br>
            <a:br>
              <a:rPr lang="en-IN" dirty="0"/>
            </a:br>
            <a:br>
              <a:rPr lang="en-IN" dirty="0"/>
            </a:br>
            <a:br>
              <a:rPr lang="en-IN" dirty="0"/>
            </a:br>
            <a:br>
              <a:rPr lang="en-IN" dirty="0"/>
            </a:br>
            <a:r>
              <a:rPr lang="en-IN" dirty="0"/>
              <a:t> </a:t>
            </a:r>
            <a:r>
              <a:rPr lang="en-IN" sz="4900" dirty="0">
                <a:latin typeface="Times New Roman" panose="02020603050405020304" pitchFamily="18" charset="0"/>
                <a:cs typeface="Times New Roman" panose="02020603050405020304" pitchFamily="18" charset="0"/>
              </a:rPr>
              <a:t>Exploratory Data Analysis(EDA)</a:t>
            </a:r>
            <a:endParaRPr lang="en-IN" dirty="0"/>
          </a:p>
        </p:txBody>
      </p:sp>
      <p:sp>
        <p:nvSpPr>
          <p:cNvPr id="8" name="Rectangle 1">
            <a:extLst>
              <a:ext uri="{FF2B5EF4-FFF2-40B4-BE49-F238E27FC236}">
                <a16:creationId xmlns:a16="http://schemas.microsoft.com/office/drawing/2014/main" id="{26A2F9FD-D31C-2650-FBB7-956F0236DCA2}"/>
              </a:ext>
            </a:extLst>
          </p:cNvPr>
          <p:cNvSpPr>
            <a:spLocks noChangeArrowheads="1"/>
          </p:cNvSpPr>
          <p:nvPr/>
        </p:nvSpPr>
        <p:spPr bwMode="auto">
          <a:xfrm>
            <a:off x="0" y="-184667"/>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4" name="Picture 13">
            <a:extLst>
              <a:ext uri="{FF2B5EF4-FFF2-40B4-BE49-F238E27FC236}">
                <a16:creationId xmlns:a16="http://schemas.microsoft.com/office/drawing/2014/main" id="{0964741D-6EC7-919E-3380-D9FCD9FF2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1" y="4737100"/>
            <a:ext cx="3657599" cy="1308100"/>
          </a:xfrm>
          <a:prstGeom prst="rect">
            <a:avLst/>
          </a:prstGeom>
          <a:ln w="38100">
            <a:solidFill>
              <a:schemeClr val="tx1"/>
            </a:solidFill>
          </a:ln>
          <a:effectLst>
            <a:innerShdw blurRad="63500" dist="50800" dir="2700000">
              <a:prstClr val="black">
                <a:alpha val="50000"/>
              </a:prstClr>
            </a:innerShdw>
          </a:effectLst>
        </p:spPr>
      </p:pic>
      <p:pic>
        <p:nvPicPr>
          <p:cNvPr id="16" name="Picture 15">
            <a:extLst>
              <a:ext uri="{FF2B5EF4-FFF2-40B4-BE49-F238E27FC236}">
                <a16:creationId xmlns:a16="http://schemas.microsoft.com/office/drawing/2014/main" id="{EFD54C81-9DF5-B393-BDFD-FF30EEE4D0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7334" y="1460500"/>
            <a:ext cx="3673766" cy="2945297"/>
          </a:xfrm>
          <a:prstGeom prst="rect">
            <a:avLst/>
          </a:prstGeom>
          <a:ln w="38100">
            <a:solidFill>
              <a:schemeClr val="tx1">
                <a:lumMod val="90000"/>
                <a:lumOff val="10000"/>
              </a:schemeClr>
            </a:solidFill>
          </a:ln>
          <a:effectLst>
            <a:innerShdw blurRad="63500" dist="50800" dir="2700000">
              <a:prstClr val="black">
                <a:alpha val="50000"/>
              </a:prstClr>
            </a:innerShdw>
          </a:effectLst>
        </p:spPr>
      </p:pic>
      <p:sp>
        <p:nvSpPr>
          <p:cNvPr id="23" name="Text Placeholder 22">
            <a:extLst>
              <a:ext uri="{FF2B5EF4-FFF2-40B4-BE49-F238E27FC236}">
                <a16:creationId xmlns:a16="http://schemas.microsoft.com/office/drawing/2014/main" id="{7CBBE913-E655-8F43-6959-CF7C85BE147F}"/>
              </a:ext>
            </a:extLst>
          </p:cNvPr>
          <p:cNvSpPr>
            <a:spLocks noGrp="1"/>
          </p:cNvSpPr>
          <p:nvPr>
            <p:ph type="body" idx="1"/>
          </p:nvPr>
        </p:nvSpPr>
        <p:spPr>
          <a:xfrm>
            <a:off x="5321299" y="1270000"/>
            <a:ext cx="6191817" cy="4419600"/>
          </a:xfrm>
        </p:spPr>
        <p:txBody>
          <a:bodyPr>
            <a:normAutofit fontScale="92500"/>
          </a:bodyPr>
          <a:lstStyle/>
          <a:p>
            <a:endParaRPr lang="en-US" dirty="0">
              <a:solidFill>
                <a:schemeClr val="bg2">
                  <a:lumMod val="10000"/>
                </a:schemeClr>
              </a:solidFill>
            </a:endParaRPr>
          </a:p>
          <a:p>
            <a:r>
              <a:rPr lang="en-US" dirty="0">
                <a:solidFill>
                  <a:schemeClr val="bg2">
                    <a:lumMod val="10000"/>
                  </a:schemeClr>
                </a:solidFill>
                <a:latin typeface="Arial Black" panose="020B0A04020102020204" pitchFamily="34" charset="0"/>
              </a:rPr>
              <a:t> </a:t>
            </a:r>
            <a:r>
              <a:rPr lang="en-US" sz="3500" b="1" u="sng" dirty="0">
                <a:solidFill>
                  <a:schemeClr val="bg2">
                    <a:lumMod val="10000"/>
                  </a:schemeClr>
                </a:solidFill>
                <a:latin typeface="Times New Roman" panose="02020603050405020304" pitchFamily="18" charset="0"/>
                <a:cs typeface="Times New Roman" panose="02020603050405020304" pitchFamily="18" charset="0"/>
              </a:rPr>
              <a:t>RETENTION V/S ATTRITION</a:t>
            </a:r>
            <a:endParaRPr lang="en-US" b="1" u="sng" dirty="0">
              <a:solidFill>
                <a:schemeClr val="bg2">
                  <a:lumMod val="10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dirty="0">
                <a:solidFill>
                  <a:schemeClr val="bg2">
                    <a:lumMod val="10000"/>
                  </a:schemeClr>
                </a:solidFill>
              </a:rPr>
              <a:t>The dataset is imbalanced, with significantly more retained employees than employees likely to leave. </a:t>
            </a:r>
          </a:p>
          <a:p>
            <a:pPr marL="342900" indent="-342900">
              <a:buFont typeface="Wingdings" panose="05000000000000000000" pitchFamily="2" charset="2"/>
              <a:buChar char="q"/>
            </a:pPr>
            <a:r>
              <a:rPr lang="en-US" dirty="0">
                <a:solidFill>
                  <a:schemeClr val="bg2">
                    <a:lumMod val="10000"/>
                  </a:schemeClr>
                </a:solidFill>
              </a:rPr>
              <a:t>Approximately </a:t>
            </a:r>
            <a:r>
              <a:rPr lang="en-US" b="1" dirty="0">
                <a:solidFill>
                  <a:schemeClr val="bg2">
                    <a:lumMod val="10000"/>
                  </a:schemeClr>
                </a:solidFill>
              </a:rPr>
              <a:t>75%</a:t>
            </a:r>
            <a:r>
              <a:rPr lang="en-US" dirty="0">
                <a:solidFill>
                  <a:schemeClr val="bg2">
                    <a:lumMod val="10000"/>
                  </a:schemeClr>
                </a:solidFill>
              </a:rPr>
              <a:t> of employees belong to the retained class (0), while </a:t>
            </a:r>
            <a:r>
              <a:rPr lang="en-US" b="1" dirty="0">
                <a:solidFill>
                  <a:schemeClr val="bg2">
                    <a:lumMod val="10000"/>
                  </a:schemeClr>
                </a:solidFill>
              </a:rPr>
              <a:t>25%</a:t>
            </a:r>
            <a:r>
              <a:rPr lang="en-US" dirty="0">
                <a:solidFill>
                  <a:schemeClr val="bg2">
                    <a:lumMod val="10000"/>
                  </a:schemeClr>
                </a:solidFill>
              </a:rPr>
              <a:t> belong to the attrition class (1). </a:t>
            </a:r>
          </a:p>
          <a:p>
            <a:pPr marL="342900" indent="-342900">
              <a:buFont typeface="Wingdings" panose="05000000000000000000" pitchFamily="2" charset="2"/>
              <a:buChar char="q"/>
            </a:pPr>
            <a:r>
              <a:rPr lang="en-US" dirty="0">
                <a:solidFill>
                  <a:schemeClr val="bg2">
                    <a:lumMod val="10000"/>
                  </a:schemeClr>
                </a:solidFill>
              </a:rPr>
              <a:t>Since the classes are not evenly distributed, metrics such as </a:t>
            </a:r>
            <a:r>
              <a:rPr lang="en-US" b="1" dirty="0">
                <a:solidFill>
                  <a:schemeClr val="bg2">
                    <a:lumMod val="10000"/>
                  </a:schemeClr>
                </a:solidFill>
              </a:rPr>
              <a:t>Precision, Recall, F1-Score, and ROC-AUC</a:t>
            </a:r>
            <a:r>
              <a:rPr lang="en-US" dirty="0">
                <a:solidFill>
                  <a:schemeClr val="bg2">
                    <a:lumMod val="10000"/>
                  </a:schemeClr>
                </a:solidFill>
              </a:rPr>
              <a:t> are important alongside Accuracy when evaluating the model. </a:t>
            </a:r>
          </a:p>
          <a:p>
            <a:endParaRPr lang="en-US" b="1" dirty="0"/>
          </a:p>
          <a:p>
            <a:endParaRPr lang="en-US" dirty="0"/>
          </a:p>
        </p:txBody>
      </p:sp>
    </p:spTree>
    <p:extLst>
      <p:ext uri="{BB962C8B-B14F-4D97-AF65-F5344CB8AC3E}">
        <p14:creationId xmlns:p14="http://schemas.microsoft.com/office/powerpoint/2010/main" val="117386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62061-DBEE-2B97-2AED-7FD961315D85}"/>
              </a:ext>
            </a:extLst>
          </p:cNvPr>
          <p:cNvSpPr>
            <a:spLocks noGrp="1"/>
          </p:cNvSpPr>
          <p:nvPr>
            <p:ph type="title"/>
          </p:nvPr>
        </p:nvSpPr>
        <p:spPr>
          <a:xfrm rot="10800000" flipV="1">
            <a:off x="5435600" y="2870200"/>
            <a:ext cx="5785418" cy="2946400"/>
          </a:xfrm>
        </p:spPr>
        <p:txBody>
          <a:bodyPr>
            <a:normAutofit fontScale="90000"/>
          </a:bodyPr>
          <a:lstStyle/>
          <a:p>
            <a:pPr marL="571500" indent="-571500">
              <a:buFont typeface="Wingdings" panose="05000000000000000000" pitchFamily="2" charset="2"/>
              <a:buChar char="q"/>
            </a:pPr>
            <a:r>
              <a:rPr lang="en-US" sz="4000" u="sng" dirty="0">
                <a:latin typeface="Times New Roman" panose="02020603050405020304" pitchFamily="18" charset="0"/>
                <a:cs typeface="Times New Roman" panose="02020603050405020304" pitchFamily="18" charset="0"/>
              </a:rPr>
              <a:t>GENDER V/S TARGET</a:t>
            </a:r>
            <a:br>
              <a:rPr lang="en-US" sz="3200" u="sng" dirty="0">
                <a:latin typeface="Times New Roman" panose="02020603050405020304" pitchFamily="18" charset="0"/>
                <a:cs typeface="Times New Roman" panose="02020603050405020304" pitchFamily="18" charset="0"/>
              </a:rPr>
            </a:br>
            <a:r>
              <a:rPr lang="en-US" sz="2800" b="0" dirty="0">
                <a:latin typeface="Times New Roman" panose="02020603050405020304" pitchFamily="18" charset="0"/>
                <a:cs typeface="Times New Roman" panose="02020603050405020304" pitchFamily="18" charset="0"/>
              </a:rPr>
              <a:t>Male </a:t>
            </a:r>
            <a:r>
              <a:rPr lang="en-US" sz="2700" b="0" dirty="0"/>
              <a:t>employees have the highest retention rate at 75.18% and the lowest attrition rate at 24.82%. </a:t>
            </a:r>
            <a:br>
              <a:rPr lang="en-US" sz="4000" b="0" dirty="0"/>
            </a:br>
            <a:r>
              <a:rPr lang="en-US" sz="2700" b="0" dirty="0"/>
              <a:t>Female employees show a slightly higher attrition rate (26.33%) compared to males. </a:t>
            </a:r>
            <a:br>
              <a:rPr lang="en-US" sz="2700" b="0" dirty="0"/>
            </a:br>
            <a:r>
              <a:rPr lang="en-US" sz="2700" b="0" dirty="0"/>
              <a:t>Employees categorized as Other have an attrition rate (26.18%) similar to females. </a:t>
            </a:r>
            <a:br>
              <a:rPr lang="en-US" sz="2700" b="0" dirty="0"/>
            </a:br>
            <a:r>
              <a:rPr lang="en-US" sz="2700" b="0" dirty="0"/>
              <a:t>The difference in attrition rates across genders is relatively small (around 1.5 percentage points), suggesting that gender is not a major factor influencing employee retention in this dataset</a:t>
            </a:r>
            <a:r>
              <a:rPr lang="en-US" sz="2700" dirty="0"/>
              <a:t>. </a:t>
            </a:r>
            <a:br>
              <a:rPr lang="en-US" sz="2700" dirty="0"/>
            </a:br>
            <a:br>
              <a:rPr lang="en-US" sz="3100" dirty="0"/>
            </a:br>
            <a:br>
              <a:rPr lang="en-US" sz="3100" u="sng" dirty="0">
                <a:latin typeface="Times New Roman" panose="02020603050405020304" pitchFamily="18" charset="0"/>
                <a:cs typeface="Times New Roman" panose="02020603050405020304" pitchFamily="18" charset="0"/>
              </a:rPr>
            </a:br>
            <a:br>
              <a:rPr lang="en-US" sz="4000" u="sng" dirty="0">
                <a:latin typeface="Times New Roman" panose="02020603050405020304" pitchFamily="18" charset="0"/>
                <a:cs typeface="Times New Roman" panose="02020603050405020304" pitchFamily="18" charset="0"/>
              </a:rPr>
            </a:br>
            <a:br>
              <a:rPr lang="en-US" sz="3200" u="sng" dirty="0">
                <a:latin typeface="Times New Roman" panose="02020603050405020304" pitchFamily="18" charset="0"/>
                <a:cs typeface="Times New Roman" panose="02020603050405020304" pitchFamily="18" charset="0"/>
              </a:rPr>
            </a:br>
            <a:endParaRPr lang="en-US" sz="3600" u="sng"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F4DAA0F-2AE0-6593-B8AA-407E843E8F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419101"/>
            <a:ext cx="4140200" cy="3873500"/>
          </a:xfrm>
          <a:ln w="38100">
            <a:solidFill>
              <a:schemeClr val="tx1"/>
            </a:solidFill>
          </a:ln>
        </p:spPr>
      </p:pic>
      <p:pic>
        <p:nvPicPr>
          <p:cNvPr id="7" name="Picture 6">
            <a:extLst>
              <a:ext uri="{FF2B5EF4-FFF2-40B4-BE49-F238E27FC236}">
                <a16:creationId xmlns:a16="http://schemas.microsoft.com/office/drawing/2014/main" id="{2582013D-A6C1-E140-6706-64E8117C66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4431447"/>
            <a:ext cx="4140199" cy="1550253"/>
          </a:xfrm>
          <a:prstGeom prst="rect">
            <a:avLst/>
          </a:prstGeom>
          <a:ln w="38100">
            <a:solidFill>
              <a:schemeClr val="tx1"/>
            </a:solidFill>
          </a:ln>
        </p:spPr>
      </p:pic>
    </p:spTree>
    <p:extLst>
      <p:ext uri="{BB962C8B-B14F-4D97-AF65-F5344CB8AC3E}">
        <p14:creationId xmlns:p14="http://schemas.microsoft.com/office/powerpoint/2010/main" val="50593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2835A-06D0-FCE0-D254-EABD5A5BCE96}"/>
              </a:ext>
            </a:extLst>
          </p:cNvPr>
          <p:cNvSpPr>
            <a:spLocks noGrp="1"/>
          </p:cNvSpPr>
          <p:nvPr>
            <p:ph type="title"/>
          </p:nvPr>
        </p:nvSpPr>
        <p:spPr>
          <a:xfrm>
            <a:off x="714376" y="603666"/>
            <a:ext cx="10798742" cy="742535"/>
          </a:xfrm>
        </p:spPr>
        <p:txBody>
          <a:bodyPr>
            <a:normAutofit/>
          </a:bodyPr>
          <a:lstStyle/>
          <a:p>
            <a:r>
              <a:rPr lang="en-US" u="sng" dirty="0">
                <a:latin typeface="Times New Roman" panose="02020603050405020304" pitchFamily="18" charset="0"/>
                <a:cs typeface="Times New Roman" panose="02020603050405020304" pitchFamily="18" charset="0"/>
              </a:rPr>
              <a:t>Distribution of Training Hours v/s Frequency</a:t>
            </a:r>
          </a:p>
        </p:txBody>
      </p:sp>
      <p:pic>
        <p:nvPicPr>
          <p:cNvPr id="8" name="Content Placeholder 7">
            <a:extLst>
              <a:ext uri="{FF2B5EF4-FFF2-40B4-BE49-F238E27FC236}">
                <a16:creationId xmlns:a16="http://schemas.microsoft.com/office/drawing/2014/main" id="{DA260B5C-E847-E6F4-27EC-34AAA95E9E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8511" y="1346201"/>
            <a:ext cx="4890589" cy="4381499"/>
          </a:xfrm>
          <a:prstGeom prst="rect">
            <a:avLst/>
          </a:prstGeom>
          <a:ln w="38100">
            <a:solidFill>
              <a:schemeClr val="tx1"/>
            </a:solidFill>
          </a:ln>
        </p:spPr>
      </p:pic>
      <p:sp>
        <p:nvSpPr>
          <p:cNvPr id="10" name="TextBox 9">
            <a:extLst>
              <a:ext uri="{FF2B5EF4-FFF2-40B4-BE49-F238E27FC236}">
                <a16:creationId xmlns:a16="http://schemas.microsoft.com/office/drawing/2014/main" id="{4846549C-E852-5C7A-4AE4-DD1F74C58C1A}"/>
              </a:ext>
            </a:extLst>
          </p:cNvPr>
          <p:cNvSpPr txBox="1"/>
          <p:nvPr/>
        </p:nvSpPr>
        <p:spPr>
          <a:xfrm>
            <a:off x="5702300" y="2551837"/>
            <a:ext cx="6197600" cy="2554545"/>
          </a:xfrm>
          <a:prstGeom prst="rect">
            <a:avLst/>
          </a:prstGeom>
          <a:noFill/>
        </p:spPr>
        <p:txBody>
          <a:bodyPr wrap="square">
            <a:spAutoFit/>
          </a:bodyPr>
          <a:lstStyle/>
          <a:p>
            <a:pPr marL="285750" indent="-285750">
              <a:buFont typeface="Wingdings" panose="05000000000000000000" pitchFamily="2" charset="2"/>
              <a:buChar char="q"/>
            </a:pPr>
            <a:r>
              <a:rPr lang="en-US" sz="2000" dirty="0"/>
              <a:t>Training hours is positively (right) skewed .</a:t>
            </a:r>
          </a:p>
          <a:p>
            <a:r>
              <a:rPr lang="en-US" sz="2000" dirty="0"/>
              <a:t>Most employees have low training hours (roughly between 10 and 60 hours).</a:t>
            </a:r>
          </a:p>
          <a:p>
            <a:pPr marL="285750" indent="-285750">
              <a:buFont typeface="Wingdings" panose="05000000000000000000" pitchFamily="2" charset="2"/>
              <a:buChar char="q"/>
            </a:pPr>
            <a:r>
              <a:rPr lang="en-US" sz="2000" dirty="0"/>
              <a:t>As training hours increase, the number of employees decreases. </a:t>
            </a:r>
          </a:p>
          <a:p>
            <a:pPr marL="285750" indent="-285750">
              <a:buFont typeface="Wingdings" panose="05000000000000000000" pitchFamily="2" charset="2"/>
              <a:buChar char="q"/>
            </a:pPr>
            <a:r>
              <a:rPr lang="en-US" sz="2000" dirty="0"/>
              <a:t>Very few employees have training hours above 200.</a:t>
            </a:r>
          </a:p>
          <a:p>
            <a:r>
              <a:rPr lang="en-US" sz="2000" dirty="0"/>
              <a:t>There are some extreme values up to around 330 hours, which may be considered outliers.</a:t>
            </a:r>
          </a:p>
        </p:txBody>
      </p:sp>
    </p:spTree>
    <p:extLst>
      <p:ext uri="{BB962C8B-B14F-4D97-AF65-F5344CB8AC3E}">
        <p14:creationId xmlns:p14="http://schemas.microsoft.com/office/powerpoint/2010/main" val="273435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269CF-48B7-2F18-7EDA-9F3E697A6046}"/>
              </a:ext>
            </a:extLst>
          </p:cNvPr>
          <p:cNvSpPr>
            <a:spLocks noGrp="1"/>
          </p:cNvSpPr>
          <p:nvPr>
            <p:ph type="title"/>
          </p:nvPr>
        </p:nvSpPr>
        <p:spPr>
          <a:xfrm>
            <a:off x="856684" y="379760"/>
            <a:ext cx="10834234" cy="612775"/>
          </a:xfrm>
        </p:spPr>
        <p:txBody>
          <a:bodyPr>
            <a:normAutofit/>
          </a:bodyPr>
          <a:lstStyle/>
          <a:p>
            <a:r>
              <a:rPr lang="en-US" dirty="0"/>
              <a:t>                                                                </a:t>
            </a:r>
            <a:endParaRPr lang="en-US"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17685A51-5786-9D3D-9B80-E9E862B58D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638" y="114300"/>
            <a:ext cx="4912705" cy="3632200"/>
          </a:xfrm>
          <a:prstGeom prst="rect">
            <a:avLst/>
          </a:prstGeom>
          <a:ln w="38100">
            <a:solidFill>
              <a:schemeClr val="tx1"/>
            </a:solidFill>
          </a:ln>
        </p:spPr>
      </p:pic>
      <p:sp>
        <p:nvSpPr>
          <p:cNvPr id="6" name="TextBox 5">
            <a:extLst>
              <a:ext uri="{FF2B5EF4-FFF2-40B4-BE49-F238E27FC236}">
                <a16:creationId xmlns:a16="http://schemas.microsoft.com/office/drawing/2014/main" id="{5954F382-E8C0-1FCE-E693-E9128C7E8BBD}"/>
              </a:ext>
            </a:extLst>
          </p:cNvPr>
          <p:cNvSpPr txBox="1"/>
          <p:nvPr/>
        </p:nvSpPr>
        <p:spPr>
          <a:xfrm>
            <a:off x="778140" y="3746500"/>
            <a:ext cx="3949700" cy="2399952"/>
          </a:xfrm>
          <a:prstGeom prst="rect">
            <a:avLst/>
          </a:prstGeom>
          <a:noFill/>
          <a:ln w="38100">
            <a:solidFill>
              <a:schemeClr val="tx1"/>
            </a:solidFill>
          </a:ln>
        </p:spPr>
        <p:txBody>
          <a:bodyPr wrap="square">
            <a:spAutoFit/>
          </a:bodyPr>
          <a:lstStyle/>
          <a:p>
            <a:pPr marL="285750" indent="-285750">
              <a:lnSpc>
                <a:spcPct val="120000"/>
              </a:lnSpc>
              <a:spcBef>
                <a:spcPts val="0"/>
              </a:spcBef>
              <a:buFont typeface="Wingdings" panose="05000000000000000000" pitchFamily="2" charset="2"/>
              <a:buChar char="q"/>
            </a:pPr>
            <a:r>
              <a:rPr lang="en-US" dirty="0">
                <a:latin typeface="Aptos" panose="020B0004020202020204" pitchFamily="34" charset="0"/>
              </a:rPr>
              <a:t>Employees with relevant experience are less likely to change a Job.</a:t>
            </a:r>
          </a:p>
          <a:p>
            <a:pPr marL="285750" indent="-285750">
              <a:lnSpc>
                <a:spcPct val="120000"/>
              </a:lnSpc>
              <a:spcBef>
                <a:spcPts val="0"/>
              </a:spcBef>
              <a:buFont typeface="Wingdings" panose="05000000000000000000" pitchFamily="2" charset="2"/>
              <a:buChar char="q"/>
            </a:pPr>
            <a:r>
              <a:rPr lang="en-US" dirty="0">
                <a:latin typeface="Aptos" panose="020B0004020202020204" pitchFamily="34" charset="0"/>
              </a:rPr>
              <a:t>Those without relevant experience have a relatively higher proportion of job changes</a:t>
            </a:r>
            <a:br>
              <a:rPr lang="en-US" dirty="0">
                <a:latin typeface="Aptos" panose="020B0004020202020204" pitchFamily="34" charset="0"/>
              </a:rPr>
            </a:br>
            <a:endParaRPr lang="en-US" dirty="0">
              <a:latin typeface="Aptos" panose="020B0004020202020204" pitchFamily="34" charset="0"/>
            </a:endParaRPr>
          </a:p>
        </p:txBody>
      </p:sp>
      <p:pic>
        <p:nvPicPr>
          <p:cNvPr id="7" name="Picture 6">
            <a:extLst>
              <a:ext uri="{FF2B5EF4-FFF2-40B4-BE49-F238E27FC236}">
                <a16:creationId xmlns:a16="http://schemas.microsoft.com/office/drawing/2014/main" id="{C43193E1-347B-5C44-942C-94B144472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9389" y="0"/>
            <a:ext cx="4625695" cy="3632200"/>
          </a:xfrm>
          <a:prstGeom prst="rect">
            <a:avLst/>
          </a:prstGeom>
          <a:ln w="38100">
            <a:solidFill>
              <a:schemeClr val="tx1"/>
            </a:solidFill>
          </a:ln>
        </p:spPr>
      </p:pic>
      <p:pic>
        <p:nvPicPr>
          <p:cNvPr id="9" name="Picture 8">
            <a:extLst>
              <a:ext uri="{FF2B5EF4-FFF2-40B4-BE49-F238E27FC236}">
                <a16:creationId xmlns:a16="http://schemas.microsoft.com/office/drawing/2014/main" id="{FB272433-12D4-CB1D-DD86-1B4C312183F3}"/>
              </a:ext>
            </a:extLst>
          </p:cNvPr>
          <p:cNvPicPr>
            <a:picLocks noChangeAspect="1"/>
          </p:cNvPicPr>
          <p:nvPr/>
        </p:nvPicPr>
        <p:blipFill>
          <a:blip r:embed="rId4"/>
          <a:stretch>
            <a:fillRect/>
          </a:stretch>
        </p:blipFill>
        <p:spPr>
          <a:xfrm>
            <a:off x="9562003" y="984076"/>
            <a:ext cx="2527300" cy="1664048"/>
          </a:xfrm>
          <a:prstGeom prst="rect">
            <a:avLst/>
          </a:prstGeom>
          <a:ln w="38100">
            <a:solidFill>
              <a:schemeClr val="tx1"/>
            </a:solidFill>
          </a:ln>
        </p:spPr>
      </p:pic>
      <p:sp>
        <p:nvSpPr>
          <p:cNvPr id="12" name="TextBox 11">
            <a:extLst>
              <a:ext uri="{FF2B5EF4-FFF2-40B4-BE49-F238E27FC236}">
                <a16:creationId xmlns:a16="http://schemas.microsoft.com/office/drawing/2014/main" id="{7EE47770-8E3C-8B38-9BB0-5B00EE79E459}"/>
              </a:ext>
            </a:extLst>
          </p:cNvPr>
          <p:cNvSpPr txBox="1"/>
          <p:nvPr/>
        </p:nvSpPr>
        <p:spPr>
          <a:xfrm>
            <a:off x="5993085" y="3746500"/>
            <a:ext cx="4178301" cy="1477328"/>
          </a:xfrm>
          <a:prstGeom prst="rect">
            <a:avLst/>
          </a:prstGeom>
          <a:noFill/>
          <a:ln w="38100">
            <a:solidFill>
              <a:schemeClr val="tx1"/>
            </a:solidFill>
          </a:ln>
        </p:spPr>
        <p:txBody>
          <a:bodyPr wrap="square">
            <a:spAutoFit/>
          </a:bodyPr>
          <a:lstStyle/>
          <a:p>
            <a:pPr marL="285750" indent="-285750">
              <a:buFont typeface="Wingdings" panose="05000000000000000000" pitchFamily="2" charset="2"/>
              <a:buChar char="q"/>
            </a:pPr>
            <a:r>
              <a:rPr lang="en-US" dirty="0">
                <a:latin typeface="Aptos" panose="020B0004020202020204" pitchFamily="34" charset="0"/>
              </a:rPr>
              <a:t>Graduates form the largest group and have significant job change activity.</a:t>
            </a:r>
          </a:p>
          <a:p>
            <a:pPr marL="285750" indent="-285750">
              <a:buFont typeface="Wingdings" panose="05000000000000000000" pitchFamily="2" charset="2"/>
              <a:buChar char="q"/>
            </a:pPr>
            <a:r>
              <a:rPr lang="en-US" dirty="0">
                <a:latin typeface="Aptos" panose="020B0004020202020204" pitchFamily="34" charset="0"/>
              </a:rPr>
              <a:t>Higher qualifications like PhDs and Masters have lower counts overall, but still show job change cases.</a:t>
            </a:r>
          </a:p>
        </p:txBody>
      </p:sp>
    </p:spTree>
    <p:extLst>
      <p:ext uri="{BB962C8B-B14F-4D97-AF65-F5344CB8AC3E}">
        <p14:creationId xmlns:p14="http://schemas.microsoft.com/office/powerpoint/2010/main" val="3945083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ED078-26A3-1720-E5C2-59E23BD2C69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CORRELATION HEATMAP</a:t>
            </a:r>
          </a:p>
        </p:txBody>
      </p:sp>
      <p:pic>
        <p:nvPicPr>
          <p:cNvPr id="4" name="Content Placeholder 3">
            <a:extLst>
              <a:ext uri="{FF2B5EF4-FFF2-40B4-BE49-F238E27FC236}">
                <a16:creationId xmlns:a16="http://schemas.microsoft.com/office/drawing/2014/main" id="{E69639CD-0E0E-BF84-5224-9B26560DF4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1" y="1358900"/>
            <a:ext cx="5956299" cy="4501357"/>
          </a:xfrm>
          <a:prstGeom prst="rect">
            <a:avLst/>
          </a:prstGeom>
          <a:ln w="38100">
            <a:solidFill>
              <a:schemeClr val="tx1"/>
            </a:solidFill>
          </a:ln>
        </p:spPr>
      </p:pic>
      <p:sp>
        <p:nvSpPr>
          <p:cNvPr id="6" name="TextBox 5">
            <a:extLst>
              <a:ext uri="{FF2B5EF4-FFF2-40B4-BE49-F238E27FC236}">
                <a16:creationId xmlns:a16="http://schemas.microsoft.com/office/drawing/2014/main" id="{0AF764D2-5035-96CF-3C3E-FA5541FC1829}"/>
              </a:ext>
            </a:extLst>
          </p:cNvPr>
          <p:cNvSpPr txBox="1"/>
          <p:nvPr/>
        </p:nvSpPr>
        <p:spPr>
          <a:xfrm>
            <a:off x="6845299" y="1905506"/>
            <a:ext cx="5041900" cy="3046988"/>
          </a:xfrm>
          <a:prstGeom prst="rect">
            <a:avLst/>
          </a:prstGeom>
          <a:noFill/>
          <a:ln w="38100">
            <a:solidFill>
              <a:schemeClr val="tx1"/>
            </a:solidFill>
          </a:ln>
        </p:spPr>
        <p:txBody>
          <a:bodyPr wrap="square">
            <a:spAutoFit/>
          </a:bodyP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Low correlations</a:t>
            </a:r>
            <a:r>
              <a:rPr lang="en-US" sz="2400" dirty="0">
                <a:latin typeface="Times New Roman" panose="02020603050405020304" pitchFamily="18" charset="0"/>
                <a:cs typeface="Times New Roman" panose="02020603050405020304" pitchFamily="18" charset="0"/>
              </a:rPr>
              <a:t> between most features indicate minimal multicollinearity.</a:t>
            </a:r>
          </a:p>
          <a:p>
            <a:pPr marL="342900" indent="-342900">
              <a:buFont typeface="Wingdings" panose="05000000000000000000" pitchFamily="2" charset="2"/>
              <a:buChar char="q"/>
            </a:pPr>
            <a:r>
              <a:rPr lang="en-US" sz="2400" i="1" dirty="0">
                <a:latin typeface="Times New Roman" panose="02020603050405020304" pitchFamily="18" charset="0"/>
                <a:cs typeface="Times New Roman" panose="02020603050405020304" pitchFamily="18" charset="0"/>
              </a:rPr>
              <a:t>Last new job</a:t>
            </a:r>
            <a:r>
              <a:rPr lang="en-US" sz="2400" dirty="0">
                <a:latin typeface="Times New Roman" panose="02020603050405020304" pitchFamily="18" charset="0"/>
                <a:cs typeface="Times New Roman" panose="02020603050405020304" pitchFamily="18" charset="0"/>
              </a:rPr>
              <a:t> moderately correlated with </a:t>
            </a:r>
            <a:r>
              <a:rPr lang="en-US" sz="2400" i="1" dirty="0">
                <a:latin typeface="Times New Roman" panose="02020603050405020304" pitchFamily="18" charset="0"/>
                <a:cs typeface="Times New Roman" panose="02020603050405020304" pitchFamily="18" charset="0"/>
              </a:rPr>
              <a:t>experience</a:t>
            </a:r>
            <a:r>
              <a:rPr lang="en-US" sz="2400" dirty="0">
                <a:latin typeface="Times New Roman" panose="02020603050405020304" pitchFamily="18" charset="0"/>
                <a:cs typeface="Times New Roman" panose="02020603050405020304" pitchFamily="18" charset="0"/>
              </a:rPr>
              <a:t> (0.48).</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Target variable has weak correlation with individual features — model must learn from combinations</a:t>
            </a:r>
            <a:r>
              <a:rPr lang="en-US" sz="1800" dirty="0">
                <a:latin typeface="Aptos" panose="020B0004020202020204" pitchFamily="34" charset="0"/>
              </a:rPr>
              <a:t>.</a:t>
            </a:r>
          </a:p>
        </p:txBody>
      </p:sp>
    </p:spTree>
    <p:extLst>
      <p:ext uri="{BB962C8B-B14F-4D97-AF65-F5344CB8AC3E}">
        <p14:creationId xmlns:p14="http://schemas.microsoft.com/office/powerpoint/2010/main" val="1088616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30AF3-3D55-E5B4-7A5E-9FDCAC5354DF}"/>
              </a:ext>
            </a:extLst>
          </p:cNvPr>
          <p:cNvSpPr>
            <a:spLocks noGrp="1"/>
          </p:cNvSpPr>
          <p:nvPr>
            <p:ph type="title"/>
          </p:nvPr>
        </p:nvSpPr>
        <p:spPr>
          <a:xfrm>
            <a:off x="0" y="603666"/>
            <a:ext cx="12191999" cy="612775"/>
          </a:xfrm>
          <a:solidFill>
            <a:schemeClr val="tx1">
              <a:lumMod val="50000"/>
              <a:lumOff val="50000"/>
            </a:schemeClr>
          </a:solidFill>
          <a:ln>
            <a:solidFill>
              <a:schemeClr val="tx1">
                <a:lumMod val="50000"/>
                <a:lumOff val="50000"/>
              </a:schemeClr>
            </a:solidFill>
          </a:ln>
        </p:spPr>
        <p:txBody>
          <a:bodyPr/>
          <a:lstStyle/>
          <a:p>
            <a:r>
              <a:rPr lang="en-IN" dirty="0"/>
              <a:t>                                            Model Selection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930E97-60AE-E31C-EFD6-1C9DCE951EDF}"/>
              </a:ext>
            </a:extLst>
          </p:cNvPr>
          <p:cNvSpPr>
            <a:spLocks noGrp="1"/>
          </p:cNvSpPr>
          <p:nvPr>
            <p:ph idx="1"/>
          </p:nvPr>
        </p:nvSpPr>
        <p:spPr>
          <a:xfrm>
            <a:off x="625190" y="1496942"/>
            <a:ext cx="10941618" cy="4398066"/>
          </a:xfrm>
        </p:spPr>
        <p:txBody>
          <a:bodyPr>
            <a:normAutofit/>
          </a:bodyPr>
          <a:lstStyle/>
          <a:p>
            <a:pPr marL="0" indent="0">
              <a:lnSpc>
                <a:spcPct val="100000"/>
              </a:lnSpc>
              <a:buNone/>
            </a:pPr>
            <a:r>
              <a:rPr lang="en-US" sz="2400" dirty="0">
                <a:latin typeface="Aptos" panose="020B0004020202020204" pitchFamily="34" charset="0"/>
              </a:rPr>
              <a:t>I choose 4 Machine learning models  for this study, each serving a different purpose:</a:t>
            </a:r>
          </a:p>
          <a:p>
            <a:pPr>
              <a:lnSpc>
                <a:spcPct val="100000"/>
              </a:lnSpc>
              <a:buFont typeface="Wingdings" panose="05000000000000000000" pitchFamily="2" charset="2"/>
              <a:buChar char="q"/>
            </a:pPr>
            <a:r>
              <a:rPr lang="en-US" b="1" u="sng" dirty="0">
                <a:latin typeface="Times New Roman" panose="02020603050405020304" pitchFamily="18" charset="0"/>
                <a:cs typeface="Times New Roman" panose="02020603050405020304" pitchFamily="18" charset="0"/>
              </a:rPr>
              <a:t>Logistic Regression</a:t>
            </a:r>
          </a:p>
          <a:p>
            <a:pPr>
              <a:lnSpc>
                <a:spcPct val="100000"/>
              </a:lnSpc>
              <a:buFont typeface="Wingdings" panose="05000000000000000000" pitchFamily="2" charset="2"/>
              <a:buChar char="q"/>
            </a:pPr>
            <a:endParaRPr lang="en-US" dirty="0">
              <a:latin typeface="Aptos" panose="020B0004020202020204" pitchFamily="34" charset="0"/>
            </a:endParaRPr>
          </a:p>
          <a:p>
            <a:pPr marL="0" indent="0">
              <a:buNone/>
            </a:pPr>
            <a:endParaRPr lang="en-US" b="1" dirty="0"/>
          </a:p>
          <a:p>
            <a:pPr>
              <a:buFont typeface="Wingdings" panose="05000000000000000000" pitchFamily="2" charset="2"/>
              <a:buChar char="q"/>
            </a:pPr>
            <a:r>
              <a:rPr lang="en-US" b="1" u="sng" dirty="0">
                <a:latin typeface="Times New Roman" panose="02020603050405020304" pitchFamily="18" charset="0"/>
                <a:cs typeface="Times New Roman" panose="02020603050405020304" pitchFamily="18" charset="0"/>
              </a:rPr>
              <a:t>Decision Tree</a:t>
            </a:r>
            <a:endParaRPr lang="en-US" sz="2400" b="1" u="sng" dirty="0">
              <a:latin typeface="Times New Roman" panose="02020603050405020304" pitchFamily="18" charset="0"/>
              <a:cs typeface="Times New Roman" panose="02020603050405020304" pitchFamily="18" charset="0"/>
            </a:endParaRPr>
          </a:p>
          <a:p>
            <a:pPr marL="0" indent="0">
              <a:buNone/>
            </a:pPr>
            <a:r>
              <a:rPr lang="en-US" sz="1800" b="1" dirty="0">
                <a:solidFill>
                  <a:schemeClr val="tx1">
                    <a:lumMod val="90000"/>
                    <a:lumOff val="10000"/>
                  </a:schemeClr>
                </a:solidFill>
                <a:latin typeface="Times New Roman" panose="02020603050405020304" pitchFamily="18" charset="0"/>
                <a:cs typeface="Times New Roman" panose="02020603050405020304" pitchFamily="18" charset="0"/>
              </a:rPr>
              <a:t>      </a:t>
            </a:r>
            <a:r>
              <a:rPr lang="en-US" sz="1800" dirty="0">
                <a:solidFill>
                  <a:schemeClr val="tx1">
                    <a:lumMod val="90000"/>
                    <a:lumOff val="10000"/>
                  </a:schemeClr>
                </a:solidFill>
                <a:latin typeface="Times New Roman" panose="02020603050405020304" pitchFamily="18" charset="0"/>
                <a:cs typeface="Times New Roman" panose="02020603050405020304" pitchFamily="18" charset="0"/>
              </a:rPr>
              <a:t>Easy to visualize and interpret</a:t>
            </a:r>
            <a:r>
              <a:rPr lang="en-US" sz="1800" dirty="0">
                <a:solidFill>
                  <a:schemeClr val="tx1">
                    <a:lumMod val="90000"/>
                    <a:lumOff val="10000"/>
                  </a:schemeClr>
                </a:solidFill>
                <a:latin typeface="Arial" panose="020B0604020202020204" pitchFamily="34" charset="0"/>
                <a:cs typeface="Arial" panose="020B0604020202020204" pitchFamily="34" charset="0"/>
              </a:rPr>
              <a:t>.</a:t>
            </a:r>
            <a:br>
              <a:rPr lang="en-US" sz="1800" dirty="0">
                <a:solidFill>
                  <a:schemeClr val="tx1">
                    <a:lumMod val="90000"/>
                    <a:lumOff val="10000"/>
                  </a:schemeClr>
                </a:solidFill>
                <a:latin typeface="Arial" panose="020B0604020202020204" pitchFamily="34" charset="0"/>
                <a:cs typeface="Arial" panose="020B0604020202020204" pitchFamily="34" charset="0"/>
              </a:rPr>
            </a:br>
            <a:r>
              <a:rPr lang="en-US" sz="1800" dirty="0">
                <a:solidFill>
                  <a:schemeClr val="tx1"/>
                </a:solidFill>
                <a:latin typeface="Times New Roman" panose="02020603050405020304" pitchFamily="18" charset="0"/>
                <a:cs typeface="Times New Roman" panose="02020603050405020304" pitchFamily="18" charset="0"/>
              </a:rPr>
              <a:t>      Captures non-linear relationships between features and the target.</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Hyperparameters tuned to improve recall while avoiding overfitting.      </a:t>
            </a:r>
          </a:p>
          <a:p>
            <a:pPr marL="0" indent="0">
              <a:buNone/>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7123020-DD58-0284-50FB-F7943D798442}"/>
              </a:ext>
            </a:extLst>
          </p:cNvPr>
          <p:cNvSpPr>
            <a:spLocks noChangeArrowheads="1"/>
          </p:cNvSpPr>
          <p:nvPr/>
        </p:nvSpPr>
        <p:spPr bwMode="auto">
          <a:xfrm>
            <a:off x="856682" y="2817336"/>
            <a:ext cx="629531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effectLst/>
                <a:latin typeface="Arial" panose="020B0604020202020204" pitchFamily="34" charset="0"/>
                <a:cs typeface="Times New Roman" panose="02020603050405020304" pitchFamily="18" charset="0"/>
              </a:rPr>
              <a:t> P</a:t>
            </a: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redicts employee attrition probability using a sigmoid function. </a:t>
            </a:r>
          </a:p>
          <a:p>
            <a:pPr marR="0" lvl="0"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 Simple, fast, and highly interpretable model. </a:t>
            </a:r>
          </a:p>
          <a:p>
            <a:pPr marR="0" lvl="0"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 Serves as a strong baseline classification model</a:t>
            </a:r>
            <a:r>
              <a:rPr lang="en-US" altLang="en-US" dirty="0">
                <a:latin typeface="Times New Roman" panose="02020603050405020304" pitchFamily="18" charset="0"/>
                <a:cs typeface="Times New Roman" panose="02020603050405020304" pitchFamily="18" charset="0"/>
              </a:rPr>
              <a:t>.</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94859755-434F-8BDB-3213-BC2322D6E025}"/>
              </a:ext>
            </a:extLst>
          </p:cNvPr>
          <p:cNvSpPr>
            <a:spLocks noChangeArrowheads="1"/>
          </p:cNvSpPr>
          <p:nvPr/>
        </p:nvSpPr>
        <p:spPr bwMode="auto">
          <a:xfrm>
            <a:off x="0" y="-3231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3175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9F8AA-962B-7B9A-17B7-9F8F65D1849C}"/>
              </a:ext>
            </a:extLst>
          </p:cNvPr>
          <p:cNvSpPr>
            <a:spLocks noGrp="1"/>
          </p:cNvSpPr>
          <p:nvPr>
            <p:ph type="title"/>
          </p:nvPr>
        </p:nvSpPr>
        <p:spPr>
          <a:xfrm flipV="1">
            <a:off x="9258300" y="649385"/>
            <a:ext cx="2254818" cy="417415"/>
          </a:xfrm>
        </p:spPr>
        <p:txBody>
          <a:bodyPr>
            <a:normAutofit fontScale="90000"/>
          </a:bodyPr>
          <a:lstStyle/>
          <a:p>
            <a:br>
              <a:rPr lang="en-US" dirty="0"/>
            </a:br>
            <a:endParaRPr lang="en-US" dirty="0"/>
          </a:p>
        </p:txBody>
      </p:sp>
      <p:sp>
        <p:nvSpPr>
          <p:cNvPr id="3" name="Content Placeholder 2">
            <a:extLst>
              <a:ext uri="{FF2B5EF4-FFF2-40B4-BE49-F238E27FC236}">
                <a16:creationId xmlns:a16="http://schemas.microsoft.com/office/drawing/2014/main" id="{B8F12721-20FC-A05B-5156-6AE4D3967329}"/>
              </a:ext>
            </a:extLst>
          </p:cNvPr>
          <p:cNvSpPr>
            <a:spLocks noGrp="1"/>
          </p:cNvSpPr>
          <p:nvPr>
            <p:ph idx="1"/>
          </p:nvPr>
        </p:nvSpPr>
        <p:spPr>
          <a:xfrm>
            <a:off x="818584" y="1066800"/>
            <a:ext cx="10834234" cy="5423756"/>
          </a:xfrm>
        </p:spPr>
        <p:txBody>
          <a:bodyPr/>
          <a:lstStyle/>
          <a:p>
            <a:pPr>
              <a:buFont typeface="Wingdings" panose="05000000000000000000" pitchFamily="2" charset="2"/>
              <a:buChar char="q"/>
            </a:pPr>
            <a:r>
              <a:rPr lang="en-US" b="1" u="sng" dirty="0">
                <a:latin typeface="Times New Roman" panose="02020603050405020304" pitchFamily="18" charset="0"/>
                <a:cs typeface="Times New Roman" panose="02020603050405020304" pitchFamily="18" charset="0"/>
              </a:rPr>
              <a:t>Random Forest</a:t>
            </a:r>
          </a:p>
          <a:p>
            <a:pPr marL="0" indent="0">
              <a:lnSpc>
                <a:spcPct val="100000"/>
              </a:lnSpc>
              <a:buNone/>
            </a:pPr>
            <a:r>
              <a:rPr lang="en-US" sz="1800" dirty="0">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Combines multiple Decision Trees for better predictions.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Reduces overfitting and improves accuracy.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Identifies the most important features affecting attrition. </a:t>
            </a:r>
          </a:p>
          <a:p>
            <a:pPr marL="0" indent="0">
              <a:lnSpc>
                <a:spcPct val="100000"/>
              </a:lnSpc>
              <a:buNone/>
            </a:pP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b="1" u="sng" dirty="0">
                <a:latin typeface="Times New Roman" panose="02020603050405020304" pitchFamily="18" charset="0"/>
                <a:cs typeface="Times New Roman" panose="02020603050405020304" pitchFamily="18" charset="0"/>
              </a:rPr>
              <a:t>AdaBoost</a:t>
            </a:r>
          </a:p>
          <a:p>
            <a:pPr marL="0" indent="0">
              <a:lnSpc>
                <a:spcPct val="100000"/>
              </a:lnSpc>
              <a:buNone/>
            </a:pPr>
            <a:r>
              <a:rPr lang="en-US" sz="1800" dirty="0">
                <a:solidFill>
                  <a:schemeClr val="tx1"/>
                </a:solidFill>
                <a:latin typeface="Times New Roman" panose="02020603050405020304" pitchFamily="18" charset="0"/>
                <a:cs typeface="Times New Roman" panose="02020603050405020304" pitchFamily="18" charset="0"/>
              </a:rPr>
              <a:t>     Boosting algorithm that improves weak learners sequentially.</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Focuses on correcting previously misclassified case</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Enhances overall Prediction Performance and Accuracy</a:t>
            </a:r>
            <a:r>
              <a:rPr lang="en-US" sz="1800" dirty="0">
                <a:solidFill>
                  <a:schemeClr val="tx1"/>
                </a:solidFill>
                <a:latin typeface="Arial" panose="020B0604020202020204" pitchFamily="34" charset="0"/>
                <a:cs typeface="Arial" panose="020B0604020202020204" pitchFamily="34" charset="0"/>
              </a:rPr>
              <a:t>.</a:t>
            </a:r>
            <a:br>
              <a:rPr lang="en-US" sz="1800" dirty="0">
                <a:solidFill>
                  <a:schemeClr val="tx1"/>
                </a:solidFill>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b="1" i="1" dirty="0">
                <a:solidFill>
                  <a:schemeClr val="tx1">
                    <a:lumMod val="90000"/>
                    <a:lumOff val="10000"/>
                  </a:schemeClr>
                </a:solidFill>
                <a:latin typeface="Times New Roman" panose="02020603050405020304" pitchFamily="18" charset="0"/>
                <a:cs typeface="Times New Roman" panose="02020603050405020304" pitchFamily="18" charset="0"/>
              </a:rPr>
              <a:t>The choice of these models balances interpretability (Logistic Regression) and predictive power (Random Forest) while focusing on the business requirement of high recall.</a:t>
            </a:r>
          </a:p>
          <a:p>
            <a:pPr>
              <a:lnSpc>
                <a:spcPct val="100000"/>
              </a:lnSpc>
            </a:pPr>
            <a:endParaRPr lang="en-US" sz="1800" b="1" i="1" dirty="0">
              <a:solidFill>
                <a:schemeClr val="tx1">
                  <a:lumMod val="90000"/>
                  <a:lumOff val="10000"/>
                </a:schemeClr>
              </a:solidFill>
              <a:latin typeface="Times New Roman" panose="02020603050405020304" pitchFamily="18" charset="0"/>
              <a:cs typeface="Times New Roman" panose="02020603050405020304" pitchFamily="18" charset="0"/>
            </a:endParaRPr>
          </a:p>
          <a:p>
            <a:endParaRPr lang="en-US" sz="1800"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7FEA0C9A-FE68-E754-17AC-3C9A32E8EF0C}"/>
              </a:ext>
            </a:extLst>
          </p:cNvPr>
          <p:cNvSpPr>
            <a:spLocks noChangeArrowheads="1"/>
          </p:cNvSpPr>
          <p:nvPr/>
        </p:nvSpPr>
        <p:spPr bwMode="auto">
          <a:xfrm>
            <a:off x="139700" y="232748"/>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6" name="Rectangle 3">
            <a:extLst>
              <a:ext uri="{FF2B5EF4-FFF2-40B4-BE49-F238E27FC236}">
                <a16:creationId xmlns:a16="http://schemas.microsoft.com/office/drawing/2014/main" id="{E6B926E2-9004-3577-B156-AA37918D929D}"/>
              </a:ext>
            </a:extLst>
          </p:cNvPr>
          <p:cNvSpPr>
            <a:spLocks noChangeArrowheads="1"/>
          </p:cNvSpPr>
          <p:nvPr/>
        </p:nvSpPr>
        <p:spPr bwMode="auto">
          <a:xfrm>
            <a:off x="0" y="-3231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5233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F35A-540D-4939-36E5-2FBA7FE7C994}"/>
              </a:ext>
            </a:extLst>
          </p:cNvPr>
          <p:cNvSpPr>
            <a:spLocks noGrp="1"/>
          </p:cNvSpPr>
          <p:nvPr>
            <p:ph type="title"/>
          </p:nvPr>
        </p:nvSpPr>
        <p:spPr>
          <a:solidFill>
            <a:schemeClr val="tx1">
              <a:lumMod val="50000"/>
              <a:lumOff val="50000"/>
            </a:schemeClr>
          </a:solidFill>
          <a:ln>
            <a:solidFill>
              <a:schemeClr val="tx1">
                <a:lumMod val="50000"/>
                <a:lumOff val="50000"/>
              </a:schemeClr>
            </a:solidFill>
          </a:ln>
        </p:spPr>
        <p:txBody>
          <a:bodyPr/>
          <a:lstStyle/>
          <a:p>
            <a:r>
              <a:rPr lang="en-US" dirty="0">
                <a:latin typeface="Times New Roman" panose="02020603050405020304" pitchFamily="18" charset="0"/>
                <a:cs typeface="Times New Roman" panose="02020603050405020304" pitchFamily="18" charset="0"/>
              </a:rPr>
              <a:t>Evaluation Metrics:</a:t>
            </a:r>
          </a:p>
        </p:txBody>
      </p:sp>
      <p:sp>
        <p:nvSpPr>
          <p:cNvPr id="3" name="Content Placeholder 2">
            <a:extLst>
              <a:ext uri="{FF2B5EF4-FFF2-40B4-BE49-F238E27FC236}">
                <a16:creationId xmlns:a16="http://schemas.microsoft.com/office/drawing/2014/main" id="{47574DBE-1A00-3504-B0AA-FA11BE485C55}"/>
              </a:ext>
            </a:extLst>
          </p:cNvPr>
          <p:cNvSpPr>
            <a:spLocks noGrp="1"/>
          </p:cNvSpPr>
          <p:nvPr>
            <p:ph idx="1"/>
          </p:nvPr>
        </p:nvSpPr>
        <p:spPr>
          <a:xfrm>
            <a:off x="678884" y="1675075"/>
            <a:ext cx="6610916" cy="4166925"/>
          </a:xfrm>
        </p:spPr>
        <p:txBody>
          <a:bodyPr>
            <a:normAutofit fontScale="77500" lnSpcReduction="20000"/>
          </a:bodyPr>
          <a:lstStyle/>
          <a:p>
            <a:pPr>
              <a:lnSpc>
                <a:spcPct val="100000"/>
              </a:lnSpc>
            </a:pPr>
            <a:r>
              <a:rPr lang="en-US" b="1" dirty="0">
                <a:latin typeface="Aptos" panose="020B0004020202020204" pitchFamily="34" charset="0"/>
              </a:rPr>
              <a:t>Accuracy</a:t>
            </a:r>
            <a:r>
              <a:rPr lang="en-US" dirty="0">
                <a:latin typeface="Aptos" panose="020B0004020202020204" pitchFamily="34" charset="0"/>
              </a:rPr>
              <a:t> :Proportion of correct predictions among total predictions.</a:t>
            </a:r>
          </a:p>
          <a:p>
            <a:pPr>
              <a:lnSpc>
                <a:spcPct val="100000"/>
              </a:lnSpc>
            </a:pPr>
            <a:r>
              <a:rPr lang="en-US" b="1" dirty="0">
                <a:latin typeface="Aptos" panose="020B0004020202020204" pitchFamily="34" charset="0"/>
              </a:rPr>
              <a:t>Precision :</a:t>
            </a:r>
            <a:r>
              <a:rPr lang="en-US" dirty="0">
                <a:latin typeface="Aptos" panose="020B0004020202020204" pitchFamily="34" charset="0"/>
              </a:rPr>
              <a:t>Out of predicted positives, how many are truly positive </a:t>
            </a:r>
          </a:p>
          <a:p>
            <a:pPr>
              <a:lnSpc>
                <a:spcPct val="100000"/>
              </a:lnSpc>
            </a:pPr>
            <a:r>
              <a:rPr lang="en-US" b="1" dirty="0">
                <a:latin typeface="Aptos" panose="020B0004020202020204" pitchFamily="34" charset="0"/>
              </a:rPr>
              <a:t>Recall (Sensitivity) :</a:t>
            </a:r>
            <a:r>
              <a:rPr lang="en-US" dirty="0">
                <a:latin typeface="Aptos" panose="020B0004020202020204" pitchFamily="34" charset="0"/>
              </a:rPr>
              <a:t> Out of actual positives, how many were correctly identified. </a:t>
            </a:r>
          </a:p>
          <a:p>
            <a:pPr>
              <a:lnSpc>
                <a:spcPct val="100000"/>
              </a:lnSpc>
            </a:pPr>
            <a:r>
              <a:rPr lang="en-US" b="1" dirty="0">
                <a:latin typeface="Aptos" panose="020B0004020202020204" pitchFamily="34" charset="0"/>
              </a:rPr>
              <a:t>Specificity :</a:t>
            </a:r>
            <a:r>
              <a:rPr lang="en-US" dirty="0">
                <a:latin typeface="Aptos" panose="020B0004020202020204" pitchFamily="34" charset="0"/>
              </a:rPr>
              <a:t>Out of actual negatives, how many were correctly identified.</a:t>
            </a:r>
          </a:p>
          <a:p>
            <a:pPr>
              <a:lnSpc>
                <a:spcPct val="100000"/>
              </a:lnSpc>
            </a:pPr>
            <a:r>
              <a:rPr lang="en-US" b="1" dirty="0">
                <a:latin typeface="Aptos" panose="020B0004020202020204" pitchFamily="34" charset="0"/>
              </a:rPr>
              <a:t>F1 Score :</a:t>
            </a:r>
            <a:r>
              <a:rPr lang="en-US" dirty="0">
                <a:latin typeface="Aptos" panose="020B0004020202020204" pitchFamily="34" charset="0"/>
              </a:rPr>
              <a:t> Harmonic mean of Precision &amp; Recall; balances both metrics. </a:t>
            </a:r>
          </a:p>
          <a:p>
            <a:pPr>
              <a:lnSpc>
                <a:spcPct val="100000"/>
              </a:lnSpc>
            </a:pPr>
            <a:r>
              <a:rPr lang="en-US" b="1" dirty="0">
                <a:latin typeface="Aptos" panose="020B0004020202020204" pitchFamily="34" charset="0"/>
              </a:rPr>
              <a:t>ROC-AUC</a:t>
            </a:r>
            <a:r>
              <a:rPr lang="en-US" dirty="0">
                <a:latin typeface="Aptos" panose="020B0004020202020204" pitchFamily="34" charset="0"/>
              </a:rPr>
              <a:t> :Measures classification ability across thresholds; higher is better</a:t>
            </a:r>
            <a:endParaRPr lang="en-US" dirty="0"/>
          </a:p>
        </p:txBody>
      </p:sp>
      <p:pic>
        <p:nvPicPr>
          <p:cNvPr id="4" name="Picture 3" descr="Model Evaluation and Metrics: Understanding Different Evaluation Metrics  for Model Performance Assessment">
            <a:extLst>
              <a:ext uri="{FF2B5EF4-FFF2-40B4-BE49-F238E27FC236}">
                <a16:creationId xmlns:a16="http://schemas.microsoft.com/office/drawing/2014/main" id="{0191A115-C813-28D5-F00B-F80A28850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800" y="1675076"/>
            <a:ext cx="4572000" cy="364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117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6504A09-3740-6438-6CB2-B3BD4E2DA291}"/>
              </a:ext>
            </a:extLst>
          </p:cNvPr>
          <p:cNvSpPr>
            <a:spLocks noGrp="1"/>
          </p:cNvSpPr>
          <p:nvPr>
            <p:ph type="title"/>
          </p:nvPr>
        </p:nvSpPr>
        <p:spPr>
          <a:xfrm>
            <a:off x="381001" y="336550"/>
            <a:ext cx="10833100" cy="612775"/>
          </a:xfrm>
          <a:solidFill>
            <a:schemeClr val="tx1">
              <a:lumMod val="50000"/>
              <a:lumOff val="50000"/>
            </a:schemeClr>
          </a:solidFill>
        </p:spPr>
        <p:txBody>
          <a:bodyPr/>
          <a:lstStyle/>
          <a:p>
            <a:pPr algn="ctr"/>
            <a:r>
              <a:rPr lang="en-IN" dirty="0"/>
              <a:t>Model Comparison</a:t>
            </a:r>
          </a:p>
        </p:txBody>
      </p:sp>
      <p:sp>
        <p:nvSpPr>
          <p:cNvPr id="3" name="TextBox 2">
            <a:extLst>
              <a:ext uri="{FF2B5EF4-FFF2-40B4-BE49-F238E27FC236}">
                <a16:creationId xmlns:a16="http://schemas.microsoft.com/office/drawing/2014/main" id="{75DF101B-27C1-3D01-ED17-7A9936CEF978}"/>
              </a:ext>
            </a:extLst>
          </p:cNvPr>
          <p:cNvSpPr txBox="1"/>
          <p:nvPr/>
        </p:nvSpPr>
        <p:spPr>
          <a:xfrm>
            <a:off x="732234" y="4714875"/>
            <a:ext cx="11054953" cy="1069652"/>
          </a:xfrm>
          <a:prstGeom prst="rect">
            <a:avLst/>
          </a:prstGeom>
          <a:noFill/>
        </p:spPr>
        <p:txBody>
          <a:bodyPr wrap="square">
            <a:spAutoFit/>
          </a:bodyPr>
          <a:lstStyle/>
          <a:p>
            <a:pPr>
              <a:lnSpc>
                <a:spcPct val="120000"/>
              </a:lnSpc>
              <a:spcBef>
                <a:spcPts val="0"/>
              </a:spcBef>
            </a:pPr>
            <a:r>
              <a:rPr lang="en-US" b="1" dirty="0">
                <a:latin typeface="Aptos" panose="020B0004020202020204" pitchFamily="34" charset="0"/>
              </a:rPr>
              <a:t>Model Selection</a:t>
            </a:r>
          </a:p>
          <a:p>
            <a:pPr>
              <a:lnSpc>
                <a:spcPct val="120000"/>
              </a:lnSpc>
              <a:spcBef>
                <a:spcPts val="0"/>
              </a:spcBef>
            </a:pPr>
            <a:r>
              <a:rPr lang="en-US" dirty="0"/>
              <a:t>Random Forest performed well because it uses multiple decision trees, which improves prediction accuracy, reduces overfitting, and handles complex patterns in employee data more effectively than a single model.</a:t>
            </a:r>
            <a:endParaRPr lang="en-US" b="1" dirty="0">
              <a:latin typeface="Aptos" panose="020B0004020202020204" pitchFamily="34" charset="0"/>
            </a:endParaRPr>
          </a:p>
        </p:txBody>
      </p:sp>
      <p:pic>
        <p:nvPicPr>
          <p:cNvPr id="7" name="Content Placeholder 6">
            <a:extLst>
              <a:ext uri="{FF2B5EF4-FFF2-40B4-BE49-F238E27FC236}">
                <a16:creationId xmlns:a16="http://schemas.microsoft.com/office/drawing/2014/main" id="{716F1CBA-9D65-E61B-A838-EA1A1C1E3A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8725" y="1371600"/>
            <a:ext cx="10101263" cy="2936142"/>
          </a:xfrm>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684454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65FDD-FE31-69E0-35C6-1CCBB403A95B}"/>
              </a:ext>
            </a:extLst>
          </p:cNvPr>
          <p:cNvSpPr>
            <a:spLocks noGrp="1"/>
          </p:cNvSpPr>
          <p:nvPr>
            <p:ph type="title"/>
          </p:nvPr>
        </p:nvSpPr>
        <p:spPr>
          <a:xfrm>
            <a:off x="381000" y="603666"/>
            <a:ext cx="11132118" cy="612775"/>
          </a:xfrm>
          <a:solidFill>
            <a:schemeClr val="tx1">
              <a:lumMod val="50000"/>
              <a:lumOff val="50000"/>
            </a:schemeClr>
          </a:solidFill>
        </p:spPr>
        <p:txBody>
          <a:bodyPr/>
          <a:lstStyle/>
          <a:p>
            <a:r>
              <a:rPr lang="en-US" dirty="0"/>
              <a:t>BEST MODEL FROM THE ABOVE ANALYSIS</a:t>
            </a:r>
          </a:p>
        </p:txBody>
      </p:sp>
      <p:sp>
        <p:nvSpPr>
          <p:cNvPr id="3" name="Content Placeholder 2">
            <a:extLst>
              <a:ext uri="{FF2B5EF4-FFF2-40B4-BE49-F238E27FC236}">
                <a16:creationId xmlns:a16="http://schemas.microsoft.com/office/drawing/2014/main" id="{37FC3F7A-01FF-FBA4-04B8-00EE9FD6B17C}"/>
              </a:ext>
            </a:extLst>
          </p:cNvPr>
          <p:cNvSpPr>
            <a:spLocks noGrp="1"/>
          </p:cNvSpPr>
          <p:nvPr>
            <p:ph idx="1"/>
          </p:nvPr>
        </p:nvSpPr>
        <p:spPr>
          <a:xfrm>
            <a:off x="678884" y="1675075"/>
            <a:ext cx="6636316" cy="3836725"/>
          </a:xfrm>
        </p:spPr>
        <p:txBody>
          <a:bodyPr>
            <a:normAutofit/>
          </a:bodyPr>
          <a:lstStyle/>
          <a:p>
            <a:pPr>
              <a:buFont typeface="Wingdings" panose="05000000000000000000" pitchFamily="2" charset="2"/>
              <a:buChar char="q"/>
            </a:pPr>
            <a:r>
              <a:rPr lang="en-US" sz="2000" dirty="0">
                <a:solidFill>
                  <a:schemeClr val="tx1">
                    <a:lumMod val="75000"/>
                    <a:lumOff val="25000"/>
                  </a:schemeClr>
                </a:solidFill>
              </a:rPr>
              <a:t>Four machine learning models were evaluated for Employee Retention Prediction: Logistic Regression, Decision Tree, Random Forest, and AdaBoost. Although Logistic Regression achieved the highest accuracy (77.66%), Random Forest demonstrated the best overall balance between Precision and Recall, resulting in the highest F1 Score (47.46%).</a:t>
            </a:r>
          </a:p>
          <a:p>
            <a:pPr>
              <a:buFont typeface="Wingdings" panose="05000000000000000000" pitchFamily="2" charset="2"/>
              <a:buChar char="q"/>
            </a:pPr>
            <a:r>
              <a:rPr lang="en-US" sz="2000" dirty="0">
                <a:solidFill>
                  <a:schemeClr val="tx1">
                    <a:lumMod val="75000"/>
                    <a:lumOff val="25000"/>
                  </a:schemeClr>
                </a:solidFill>
              </a:rPr>
              <a:t>Since employee retention prediction requires correctly identifying employees who are likely to leave, F1 Score was considered a key evaluation metric. Based on overall performance , </a:t>
            </a:r>
            <a:r>
              <a:rPr lang="en-US" dirty="0"/>
              <a:t>Random Forest </a:t>
            </a:r>
            <a:r>
              <a:rPr lang="en-US" sz="2000" dirty="0">
                <a:solidFill>
                  <a:schemeClr val="tx1">
                    <a:lumMod val="75000"/>
                    <a:lumOff val="25000"/>
                  </a:schemeClr>
                </a:solidFill>
              </a:rPr>
              <a:t>was selected as the final model for this project</a:t>
            </a:r>
            <a:r>
              <a:rPr lang="en-US" sz="2000" dirty="0"/>
              <a:t>.</a:t>
            </a:r>
            <a:br>
              <a:rPr lang="en-US" sz="2000" dirty="0"/>
            </a:br>
            <a:endParaRPr lang="en-US" sz="2000" dirty="0"/>
          </a:p>
        </p:txBody>
      </p:sp>
      <p:pic>
        <p:nvPicPr>
          <p:cNvPr id="1026" name="Picture 2">
            <a:extLst>
              <a:ext uri="{FF2B5EF4-FFF2-40B4-BE49-F238E27FC236}">
                <a16:creationId xmlns:a16="http://schemas.microsoft.com/office/drawing/2014/main" id="{EFE7685F-6649-B5EF-722F-CA3FB9185F4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98"/>
          <a:stretch>
            <a:fillRect/>
          </a:stretch>
        </p:blipFill>
        <p:spPr bwMode="auto">
          <a:xfrm>
            <a:off x="7315200" y="1919551"/>
            <a:ext cx="4197916" cy="2097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199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87B5-FA18-A341-DB57-24791EE02628}"/>
              </a:ext>
            </a:extLst>
          </p:cNvPr>
          <p:cNvSpPr>
            <a:spLocks noGrp="1"/>
          </p:cNvSpPr>
          <p:nvPr>
            <p:ph type="title"/>
          </p:nvPr>
        </p:nvSpPr>
        <p:spPr>
          <a:solidFill>
            <a:schemeClr val="tx1">
              <a:lumMod val="50000"/>
              <a:lumOff val="50000"/>
            </a:schemeClr>
          </a:solidFill>
        </p:spPr>
        <p:txBody>
          <a:bodyPr>
            <a:normAutofit/>
          </a:bodyPr>
          <a:lstStyle/>
          <a:p>
            <a:r>
              <a:rPr lang="en-IN" sz="4400" u="sng" dirty="0">
                <a:solidFill>
                  <a:schemeClr val="tx1">
                    <a:lumMod val="90000"/>
                    <a:lumOff val="10000"/>
                  </a:schemeClr>
                </a:solidFill>
              </a:rPr>
              <a:t>Conclusion</a:t>
            </a:r>
            <a:endParaRPr lang="en-US" sz="4400" u="sng" dirty="0">
              <a:solidFill>
                <a:schemeClr val="tx1">
                  <a:lumMod val="90000"/>
                  <a:lumOff val="10000"/>
                </a:schemeClr>
              </a:solidFill>
            </a:endParaRPr>
          </a:p>
        </p:txBody>
      </p:sp>
      <p:sp>
        <p:nvSpPr>
          <p:cNvPr id="4" name="Rectangle 1">
            <a:extLst>
              <a:ext uri="{FF2B5EF4-FFF2-40B4-BE49-F238E27FC236}">
                <a16:creationId xmlns:a16="http://schemas.microsoft.com/office/drawing/2014/main" id="{2F3014B7-D9FE-C024-DCC2-A2C9E7FD07BA}"/>
              </a:ext>
            </a:extLst>
          </p:cNvPr>
          <p:cNvSpPr>
            <a:spLocks noGrp="1" noChangeArrowheads="1"/>
          </p:cNvSpPr>
          <p:nvPr>
            <p:ph idx="1"/>
          </p:nvPr>
        </p:nvSpPr>
        <p:spPr bwMode="auto">
          <a:xfrm>
            <a:off x="678884" y="1382289"/>
            <a:ext cx="1115116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emerged as the best-performing model for attrition prediction.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Recall ensured better identification of employees at risk of leaving.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factors included training hours, experience, and company size.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Insights can support proactive HR interventions and improve retention outcomes.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enables informed, data-driven decision-making for workforce management.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0130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7979</TotalTime>
  <Words>955</Words>
  <Application>Microsoft Office PowerPoint</Application>
  <PresentationFormat>Widescreen</PresentationFormat>
  <Paragraphs>95</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Arial Black</vt:lpstr>
      <vt:lpstr>Bahnschrift SemiLight SemiConde</vt:lpstr>
      <vt:lpstr>Calibri</vt:lpstr>
      <vt:lpstr>Times New Roman</vt:lpstr>
      <vt:lpstr>Wingdings</vt:lpstr>
      <vt:lpstr>BIA Template</vt:lpstr>
      <vt:lpstr>PowerPoint Presentation</vt:lpstr>
      <vt:lpstr>AGENDA:</vt:lpstr>
      <vt:lpstr>INTRODUCTION</vt:lpstr>
      <vt:lpstr>Objectives:</vt:lpstr>
      <vt:lpstr>Data Acquisition</vt:lpstr>
      <vt:lpstr>PowerPoint Presentation</vt:lpstr>
      <vt:lpstr>       Exploratory Data Analysis(EDA)</vt:lpstr>
      <vt:lpstr>GENDER V/S TARGET Male employees have the highest retention rate at 75.18% and the lowest attrition rate at 24.82%.  Female employees show a slightly higher attrition rate (26.33%) compared to males.  Employees categorized as Other have an attrition rate (26.18%) similar to females.  The difference in attrition rates across genders is relatively small (around 1.5 percentage points), suggesting that gender is not a major factor influencing employee retention in this dataset.      </vt:lpstr>
      <vt:lpstr>Distribution of Training Hours v/s Frequency</vt:lpstr>
      <vt:lpstr>                                                                </vt:lpstr>
      <vt:lpstr>CORRELATION HEATMAP</vt:lpstr>
      <vt:lpstr>                                            Model Selection</vt:lpstr>
      <vt:lpstr> </vt:lpstr>
      <vt:lpstr>Evaluation Metrics:</vt:lpstr>
      <vt:lpstr>Model Comparison</vt:lpstr>
      <vt:lpstr>BEST MODEL FROM THE ABOVE ANALYSIS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amisha Kalra</cp:lastModifiedBy>
  <cp:revision>2259</cp:revision>
  <dcterms:created xsi:type="dcterms:W3CDTF">2020-12-23T13:36:00Z</dcterms:created>
  <dcterms:modified xsi:type="dcterms:W3CDTF">2026-07-13T08:15:43Z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